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377440"/>
            <a:ext cx="4754880" cy="23774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777240" cy="42976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34440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삼일회계법인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365760" y="13716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호반그룹 작업위험성평가(JHA)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에이전트 PoC 구성(안)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384048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구성 검토 요청 — 오픈이노베이션팀·EHS 부서 협의용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Contents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77440" y="15544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880360" y="15544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 — As-Is 문제와 To-Be 목표상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0" y="155448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975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97510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개요 — 범위·데모 시나리오·사용자 여정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97510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395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39572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 — 전사 위험요인 자산화·파이프라인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3957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8163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8163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에이전트 아키텍처 — RAG·가드레일·연동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281635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2369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323697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현황 — 메커니즘 검증 vs 실 LLM 보류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323697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6576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36576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요청 사항 — 함께 결정할 안건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36576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위험성평가의 한계를 자연어·AI 추천 구조로 전환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 — As-Is의 3대 부담을 AI 추천 구조로 전환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위험성평가는 수기 입력·수동 검색·주관적 등급에 의존해 업무 부하·역량 편차·데이터 휘발이 누적됨. 자연어 입력 → AI 분류·기준 제안 → 객관적 등급 가이드 → ERP 자동 등록 구조로 전환 필요.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97764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— 현 위험성평가의 부담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709928"/>
            <a:ext cx="397764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847088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801368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부하
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작업마다 위험요인·대책을 수기 입력. 과거 자료를 수동 검색해 재작성 — 평가 1건당 시간 과다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779776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734056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역량 편차
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경험에 따라 위험요인 누락·등급 산정이 주관적. 평가 품질이 사람마다 다름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666744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휘발
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작성된 평가가 문서로만 남아 재사용·축적 안 됨. 조직 지식으로 자산화되지 못함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41732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— AI 에이전트 지원 목표상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709928"/>
            <a:ext cx="416052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47088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801368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→ AI 분류
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내용 한 줄 입력 → 대/중공종·세부항목 자동 분류 추천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779776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734056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제안 → 객관적 등급
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위험요인·재해형태·KRAS 5×5 등급을 데이터 근거로 제시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712464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666744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 → ERP 자동 등록
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검토 후 ERP 자동 등록. 평가가 조직 자산으로 축적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498848"/>
            <a:ext cx="8412480" cy="420624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AI 기술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LLM(자연어 이해) · RAG(사내 위험요인 검색·근거) · Semantic Search · Agentic Workflow. 단, 사용자가 항상 수정·거절 가능해야 함(제약사항).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PoC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입력부터 ERP 등록까지 5단계 파이프라인을 데모로 시연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PoC 범위 — 입력부터 등록까지 5단계 파이프라인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→ 분류 → 위험요인·등급 → 검토·확정 → ERP 등록의 단일 흐름을 PoC 범위로 정의. 작업자는 입력·검토, 안전관리자는 확정·등록 책임을 가지는 역할 분기 구조.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86077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9229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2381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4949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79546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2698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5850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8418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위험요인·등급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3014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6166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9318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91886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66483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635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2787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85355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내용 한 줄 입력. 동의어 정규화(낙상→추락)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59229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분류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대공종20·중공종254·세부1,182 트리 추천 + 대안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52698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위험요인·등급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재해형태·KRAS 5×5 등급·중점등록·개선대책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6166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검토. 경계셀·필수인용은 확정 게이트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39635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확정분만 ERP 자동 등록(Outbox·Idempotency)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520440"/>
            <a:ext cx="416052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작업자(worker)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81304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· 분류/평가 결과 검토 요청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등급·중점등록 자동 확정 권한 없음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(경계셀·필수인용 미해소 시 등록 차단)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352044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안전관리자(safety_manager)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381304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경계셀·필수인용 확정 · 최종 검토 · ERP 등록 승인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확인 전 ERP 자동 등록 불가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AI 추천 수정·거절 가능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데모 시나리오 — 난이도·재해형태·가드레일을 다양화한 5건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추락·붕괴·복합재해·갭(밀폐공간)을 고루 포함해 분류·등급·인용·refuse 거동을 시연. Mock 어댑터로 외부 LLM 호출 없이 결정적 재현 가능.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182880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194560" y="1417320"/>
            <a:ext cx="237744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분류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164592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91440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0" y="1417320"/>
            <a:ext cx="164592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포인트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83794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타워크레인 해체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0" y="1837944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가설공사 / 타워크레인(T형)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0" y="183794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추락·낙하·협착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17920" y="1837944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상(경계셀)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0" y="183794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→ 안전관리자 확정 게이트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258568"/>
            <a:ext cx="18288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굴착 흙막이 가시설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94560" y="2258568"/>
            <a:ext cx="237744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토공 및 가시설 / 굴착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2258568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붕괴·도괴·전도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0" y="2258568"/>
            <a:ext cx="9144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132320" y="2258568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정상 등록 플로우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2679192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거푸집·동바리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94560" y="2679192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골조(형틀) / 보 슬래브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26791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낙하·붕괴·추락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2679192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32320" y="26791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원문 패널 연동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3099816"/>
            <a:ext cx="18288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고소 강교 용접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94560" y="3099816"/>
            <a:ext cx="237744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토목 전문공사 / 강교설치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0" y="3099816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추락·감전·화재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0" y="3099816"/>
            <a:ext cx="9144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0" y="3099816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복합재해 다중 법적 인용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3520440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밀폐공간(E/V PIT·맨홀)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94560" y="3520440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부대토목 / 맨홀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0" y="35204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추락·질식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3520440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후보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32320" y="35204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 영역 refuse 가드레일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123944"/>
            <a:ext cx="45720" cy="50292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123944"/>
            <a:ext cx="8348472" cy="50292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①·⑤가 핵심 데모 — ①은 경계셀 자동확정 금지(3중 강제), ⑤는 데이터 갭 영역에서 근거 없는 대책을 생성하지 않는 refuse 가드레일을 시연함.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위험요인 4,469행을 정제·청킹·인덱스로 자산화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전사 위험요인 4,469행을 단일 자산으로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 20·중공종 254·세부항목 1,182·재해형태 21의 3계층 분류 체계. 결측 0건·범위위반 0건·인코딩 손상 0건으로 정제 품질 확보됨(openpyxl 실측).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데이터 행</a:t>
            </a:r>
            <a:endParaRPr lang="en-US" sz="9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4,469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 0 / 중복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0317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3계층</a:t>
            </a:r>
            <a:endParaRPr lang="en-US" sz="9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20·254·1,182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대/중공종·세부항목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4058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</a:t>
            </a:r>
            <a:endParaRPr lang="en-US" sz="9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21종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KRAS 표준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7799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위험등급 분포</a:t>
            </a:r>
            <a:endParaRPr lang="en-US" sz="9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하2,444·중1,507·상518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상=중점등록 518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 사망사고 다발 재해형태 (행수 / 등급 상 행수)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07208"/>
            <a:ext cx="84124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792행 / 상168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낙하·비래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874행 / 상82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전도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685행 / 상77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협착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525행 / 상66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붕괴·도괴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197행 / 상31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5236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343행 / 상32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45720" cy="73152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703320"/>
            <a:ext cx="8348472" cy="73152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상 518행의 재해형태 TOP4(추락·전도·낙하·협착)가 전체 상의 73.8%. 데모·평가는 이 4종에 집중함. 단 토목·가설 편중(52.1%)으로 밀폐공간·화학물질 등은 데이터가 얕아 갭 영역으로 분리 처리(refuse 대상).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KRAS 5×5 등급 체계와 자산화 파이프라인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전수 역산으로 등급 임계곱 확정(하≤9 / 중10~15 / 상≥16). 곱16(강도4×빈도4)만 상·중 혼합인 경계셀로, 자동 확정하지 않고 안전관리자 판단에 위임.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397764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임계곱 (실데이터 역산 · 99.22% 재현)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9776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37360"/>
            <a:ext cx="3977640" cy="603504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 (Low)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 × 빈도 ≤ 9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2,444행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414016"/>
            <a:ext cx="3977640" cy="603504"/>
          </a:xfrm>
          <a:prstGeom prst="rect">
            <a:avLst/>
          </a:prstGeom>
          <a:solidFill>
            <a:srgbClr val="FFF8E1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(Medium)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≤ 강도 × 빈도 ≤ 15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1,507행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090672"/>
            <a:ext cx="3977640" cy="603504"/>
          </a:xfrm>
          <a:prstGeom prst="rect">
            <a:avLst/>
          </a:prstGeom>
          <a:solidFill>
            <a:srgbClr val="FCDDC2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(High)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 × 빈도 ≥ 16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518행 (전부 중점등록 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767328"/>
            <a:ext cx="3977640" cy="603504"/>
          </a:xfrm>
          <a:prstGeom prst="rect">
            <a:avLst/>
          </a:prstGeom>
          <a:solidFill>
            <a:srgbClr val="FFEB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강도4 × 빈도4 = 16 (상249/중35)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자동확정 금지·인간 판단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17720" y="137160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자산화 파이프라인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664208"/>
            <a:ext cx="41605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8308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01768" y="173736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정제·정규화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 불릿 제거·다중공백 단일화·동의어 정규화·분류 ID 부여(MJ/SB/DT)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01768" y="237744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단위 청킹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4,469행 → 행 단위 청크 + 메타데이터 inline(분류·등급·인용 추적)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306324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01768" y="301752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인덱스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kiwipiepy 토크나이저 BM25 인덱스(PoC 베이스라인). dense 임베딩은 차기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45720" cy="566928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675888"/>
            <a:ext cx="4096512" cy="566928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— PII 0건(작업자 정보 미포함) · 외부 LLM 화이트리스트 필터 강제 · 위반 필드 탐지 시 외부 전송 중단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운영 가능한 Data Pipeline 구성계획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안전관리자가 위험요인 데이터를 직접 관리하면 무결성 강제·자동 재인덱싱을 거쳐 AI 지식베이스가 즉시 갱신되는 운영 파이프라인을 구성함. 타 현장 우수사례·신규 위험요인이 휘발되지 않고 전사 지식자산으로 축적됨.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645920" cy="310896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원천 데이터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682496"/>
            <a:ext cx="1645920" cy="92354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  <a:prstDash val="solid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위험요인
Excel 4,469행
(불변 보존)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구축 완료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99339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CRUD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전용
관리화면 — 검색·
필터·행 생성/수정/삭제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368503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무결성 강제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등급 재계산·
중점등록 자동연동·
경계셀 판단 플래그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37667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068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재인덱싱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재청킹·재인덱싱
→ 무중단 교체
→ AI 답변 즉시반영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06831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0" y="1371600"/>
            <a:ext cx="1645920" cy="310896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지식베이스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682496"/>
            <a:ext cx="1645920" cy="92354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  <a:prstDash val="solid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검색 인덱스
갱신 → RAG 검색에
즉시 활용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구축 완료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무결성 자동 강제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등급은 강도×빈도 임계곱(하≤9 / 중10~15 / 상≥16)으로 서버가 재계산, 중점등록=등급‘상’ 자동 연동, 곱16 경계셀은 인간판단 플래그. 입력 실수가 지식베이스를 오염시키지 않는 구조.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416052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게이트 · 변경 감사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67588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데이터 관리화면 접근 — 안전관리자·관리자만(역할 게이트)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행 생성/수정/삭제 전체 변경 감사 이력 기록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작업자는 조회 불가 — 운영 데이터 오염 차단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617720" y="338328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게이트 · 안전 폴백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367588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변경 비율 5% 초과 시 회귀 평가 권고 플래그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재인덱싱 실패 시 이전 인덱스 유지(안전 폴백)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무중단 교체 — 서비스 중단 없이 AI 답변 갱신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365760" y="4407408"/>
            <a:ext cx="45720" cy="384048"/>
          </a:xfrm>
          <a:prstGeom prst="rect">
            <a:avLst/>
          </a:prstGeom>
          <a:solidFill>
            <a:srgbClr val="C75510"/>
          </a:solidFill>
          <a:ln w="12700">
            <a:solidFill>
              <a:srgbClr val="C755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4407408"/>
            <a:ext cx="8348472" cy="384048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효과 — 타 현장 우수사례·신규 위험요인이 문서로만 남아 휘발되던 구조(Problem #3 “데이터 휘발”)를, 안전관리자 입력→자동 자산화 루프로 전환. 신규 계획부는 구성 계획(구현 중)으로 정직 구분 표기함.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에이전트 아키텍처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파이프라인·신뢰성 가드레일·Human-in-the-loop·ERP 연동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아키텍처 — RAG 파이프라인 7단계 (검색→생성→검산)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의도추출·메타필터로 검색공간을 4,469행에서 수십 건으로 축소 후 LLM이 추천. 등급·중점등록·인용은 LLM을 신뢰하지 않고 백엔드가 결정적으로 재계산·검증함.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의도추출·정규화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86077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9229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2381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4949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prefilter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79546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2698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5850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8418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검색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3014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6166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9318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91886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생성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66483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635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2787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85355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검산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의도추출·정규화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입력 → taxonomy 매칭, 동의어 정규화, 비작업 입력 게이트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9229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prefilter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대/중공종·재해형태 필터로 4,469 → 수십 건 축소(비용·정확도)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52698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검색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단독(PoC). top_k 20→5. dense 임베딩은 차기 활성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6166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생성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공급자 추상화(기본 OpenAI gpt-4.1, 모델 env 교체 가능). JSON 스키마 출력·자동 캐싱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9635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검산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검증·등급 재계산·경계셀 강제. 코드가 권위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657600"/>
            <a:ext cx="8412480" cy="420624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의존성 격리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임베딩·LLM·리랭커를 어댑터 인터페이스로 분리. LLM은 공급자 추상화로 기본 OpenAI gpt-4.1, 모델 env 교체 가능. 교체(예: BM25→dense)는 어댑터 단위로 격리되어 파이프라인 계약 불변.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169664"/>
            <a:ext cx="8412480" cy="420624"/>
          </a:xfrm>
          <a:prstGeom prst="rect">
            <a:avLst/>
          </a:prstGeom>
          <a:solidFill>
            <a:srgbClr val="FDF6EE"/>
          </a:solidFill>
          <a:ln>
            <a:solidFill>
              <a:srgbClr val="FDF6E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위험 확장(차기)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분류·평가에 현장 위치·실시간 기상·지형 재해 레이어 결합. 외부 공공 API는 provider 추상화로 목업↔실API 교체.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아키텍처 — 신뢰성 가드레일과 Human-in-the-loop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추천 신뢰성을 코드로 강제. "출처 없이는 답하지 않는다" 원칙하에 인용 강제·등급 재계산·경계셀 인간판단·갭영역 거절을 적용하고, 안전관리자 확정 전 ERP 등록을 차단함.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397764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가드레일 (백엔드 결정적 검증)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9776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8308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강제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위험요인·대책에 source_row 인용 필수. 미검색 인용(환각) → 재생성 → 거절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46888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코드 재계산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강도×빈도를 코드가 재계산. LLM 등급과 불일치 시 코드 우선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인간판단 강제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곱16은 자동 확정 금지. 기본 상(보수적)+안전관리자 확인 플래그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97764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393192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갭영역 거절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밀폐공간·화학물질·석면은 근거 부족 시 refuse(조문만 표시, 대책 차단)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37160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Human-in-the-loop — ERP 등록 게이트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664208"/>
            <a:ext cx="41605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755648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평가(ASSESSED)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60820" y="21214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대기(PENDING_REVIEW)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60820" y="26517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816352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확정(REVIEWED)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60820" y="31821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346704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확정(FINALIZED)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60820" y="37124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877056"/>
            <a:ext cx="3611880" cy="365760"/>
          </a:xfrm>
          <a:prstGeom prst="rect">
            <a:avLst/>
          </a:prstGeom>
          <a:solidFill>
            <a:srgbClr val="EB6B16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등록(REGISTERING)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4407408"/>
            <a:ext cx="45720" cy="45720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4407408"/>
            <a:ext cx="4096512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경계셀·필수인용 미해소 레코드는 finalize 409 차단 + 어댑터 ErpFatal 이중 게이트. 사람 확인 없이 ERP 자동 등록 불가.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 실측 — 핵심 품질축 임계 충족, 인용 정밀축은 측정방법 개선 과제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 — 실 LLM(gpt-4.1) baseline 실측 결과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baseline에서 분류·위험요인 포착·거절·근거충실 등 핵심 품질축이 임계를 충족함을 확인. 인용 정밀 2개 축은 미달이나 원인은 환각이 아닌 gold 행-ID 입도 불일치로, 평가방법·모델 개선 병행 과제로 식별함.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452628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메트릭 (gold 35건 · seed 42 · gpt-4.1)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52628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37360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classification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28900" y="1737360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24682" y="1737360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≥0.85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48886" y="1737360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20824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hazard_coverage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28900" y="2020824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24682" y="2020824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≥0.80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48886" y="2020824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304288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grade_alignment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28900" y="2304288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24682" y="2304288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≥0.75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48886" y="2304288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587752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refuse_appropriateness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28900" y="2587752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24682" y="2587752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≥0.90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8886" y="2587752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871216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faithfulness (judge)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28900" y="2871216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4.71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24682" y="2871216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48886" y="2871216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154680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control_verifiability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28900" y="3154680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24682" y="3154680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≥0.70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48886" y="3154680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438144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legal_recall (법조문)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28900" y="3438144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24682" y="3438144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48886" y="3438144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721608"/>
            <a:ext cx="2263140" cy="283464"/>
          </a:xfrm>
          <a:prstGeom prst="rect">
            <a:avLst/>
          </a:prstGeom>
          <a:solidFill>
            <a:srgbClr val="FFEBEE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citation_precision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28900" y="3721608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24682" y="3721608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≥0.90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48886" y="3721608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005072"/>
            <a:ext cx="2263140" cy="283464"/>
          </a:xfrm>
          <a:prstGeom prst="rect">
            <a:avLst/>
          </a:prstGeom>
          <a:solidFill>
            <a:srgbClr val="FFEBEE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citation_recall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28900" y="4005072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0.618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24682" y="4005072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≥0.70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48886" y="4005072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288536"/>
            <a:ext cx="2263140" cy="283464"/>
          </a:xfrm>
          <a:prstGeom prst="rect">
            <a:avLst/>
          </a:prstGeom>
          <a:solidFill>
            <a:srgbClr val="FFF8E1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 p95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628900" y="4288536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15.3s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24682" y="4288536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48886" y="4288536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60857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13개 임계 중 11 PASS · 2 FAIL(인용) — judge 편향점검 통과(max var 0.222&lt;0.5)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5029200" y="1371600"/>
            <a:ext cx="374904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 2건 정직 해석 (환각 아님)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29200" y="1664208"/>
            <a:ext cx="37490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1737360"/>
            <a:ext cx="3749040" cy="1627632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— gold 행-ID 입도 불일치
</a:t>
            </a:r>
            <a:pPr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의미상 동등한 중복행을 인용(4,469행에 동일 세부작업 다수 병존). legal_recall 0.909·faithfulness 4.71이 "인용 내용은 정답"을 교차검증. 단 측정 기준상 미달은 미달로 표기.
</a:t>
            </a:r>
            <a:pPr indent="0" marL="0">
              <a:buNone/>
            </a:pPr>
            <a:r>
              <a:rPr lang="en-US" sz="9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— 평가·모델 병행
</a:t>
            </a:r>
            <a:pPr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평가: 동등행 집합화(acceptable_source_rows) 채점  ② 모델: canonical 행 정규화로 인용 통일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0" y="3456432"/>
            <a:ext cx="3749040" cy="969264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 과소평가 2건 (상→중/하)
</a:t>
            </a:r>
            <a:pPr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GS-0001 타워크레인 해체(추락 누락)·GS-0010 열풍기 연료(폭발 과소). 개선: 고소·인화물 작업에 지배재해를 강제 후보로 주입.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류의 판단 —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품질축은 운영 게이트 임계 충족 확인. 인용 정밀축은 측정방법 개선 과제로 식별, 다음 회귀에서 동등행 집합 기준 재측정.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 — 테스트 커버리지와 데모 화면 구성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55·프론트엔드 72·E2E 12건 테스트로 메커니즘 검증. 챗 인터페이스에 상시 동반(companion) 패널을 결합해 분류·위험요인 매트릭스·인용 원문·등록 결과를 단계별로 시연.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테스트</a:t>
            </a:r>
            <a:endParaRPr lang="en-US" sz="9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gap_guardrail·outbox·api_flow 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1564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단위</a:t>
            </a:r>
            <a:endParaRPr lang="en-US" sz="9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매트릭스·배지·companion 패널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6552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E2E 시나리오</a:t>
            </a:r>
            <a:endParaRPr lang="en-US" sz="9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worker·manager·동적위험 플로우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841248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화면 — 챗 + 상시 동반 패널(companion panel)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852928"/>
            <a:ext cx="84124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분류 도우미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대공종20→중공종254 트리 드릴다운 + AI 추천 하이라이트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9174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 평가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KRAS 5×5 매트릭스 시각화 + 경계셀 "안전관리자 확인" 배지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원문 패널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근거 source_row 원문 표시(위험요인·대책·강도·빈도)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4370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완료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 결과(ID·상태) + 다음 작업 유도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45720" cy="36576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4206240"/>
            <a:ext cx="8348472" cy="36576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경보(작업중지)는 어느 단계에서도 패널 상단 1줄로 상시 노출 — 현장 햇빛·소음·장갑 환경을 고려한 색상+텍스트 병기(WCAG).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06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검토 요청 사항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결정할 안건 — ERP I/F·DB 접근·검증 계획·데이터 범위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검토 요청 사항 — 고객과 함께 결정할 안건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 측정은 완료(2026-06-12). 운영 전환을 위해 ERP I/F 확정·DB 접근 전략 승인·전문가 검증 계획·데이터 추가 범위, 그리고 인용 평가 기준 개선·등급 과소 2건 보강 후 회귀 재측정을 함께 결정 필요.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I/F 확정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패키지/버전·인터페이스 종류(REST/SOAP/OData)·JHA 등록 엔드포인트 존재 여부 확인 필요. 미확정 시 어댑터 구현체·등록 흐름 설계 진행 불가.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DB 접근 전략 — ETL 배치(옵션 C)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DB → 벡터 인덱스 일 1회 야간 배치 동기화 안 승인 요청. ERP 신규 개발·로그 접근 없이 읽기 권한만으로 착수 → 일정 리스크 최소.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검증 기간·대조 검증(≥200건)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안전관리자가 실작업 입력에 대해 AI 추천 vs 수기 평가 대조(권장 ≥200건). 오답 패턴 카테고리화 → gold set·few-shot 보강. AI 신뢰성 검증·튜닝 기간 필요(제약사항).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83464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추가 범위 — 갭 영역 보강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밀폐공간(KOSHA Guide P-93)·화학물질/MSDS(산안법 §110~115)는 데이터 얕음 → 현재 refuse 대상. 2차 데이터 확보 범위·우선순위 협의 필요.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6350">
            <a:solidFill>
              <a:srgbClr val="2E7D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78181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 측정 — 완료(2026-06-12)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gpt-4.1 baseline 35건 실측 완료. 분류0.897·hazard0.882·등급0.790·refuse1.0·faithfulness4.71 등 핵심축 임계 충족. 인용 정밀 2개 축은 미달 → 후속 안건으로 이관.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8404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84048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평가 기준 개선 — 동등행 집합 합의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citation P/R 미달 원인은 gold 행-ID 입도 불일치(의미상 동등 중복행 인용). expected_source_rows를 동등행 집합(acceptable_source_rows)으로 확장하고 집합교차 채점하도록 메트릭 보강 — safety-domain-expert 협업·기준 합의 필요.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3434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과소평가 2건 보강 후 회귀 재측정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GS-0001(해체→중)·GS-0010(열풍기→하) 과소평가 보정 — 고소·인화물 작업 지배재해 강제 후보 주입 후 본 baseline 대비 회귀 재측정으로 critical_fail 해소 확인 필요.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마무리 — 운영 전환 로드맵 및 협의 요청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PoC(메커니즘 데모) → 운영(실작업 등록) 전환은 dense 검색·실 LLM baseline·refuse 보강·실 ERP 연동·전문가 검증을 순차 게이트로 진행함. 각 단계 진입 전 본 검토 안건의 결정을 전제로 함.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7680960" cy="2743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메커니즘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(Mock)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945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I/F 확정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접근 승인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6227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refuse 보강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8251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350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ERP 연동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dense 검색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0275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운영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≥200건 후 전환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—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PoC 구성(안)에 대해 함께 검토 부탁드립니다.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 ① ERP I/F 확정(P0) ② 안전 DB ETL 배치 승인 ③ 전문가 검증 기간·대조 검증(≥200건) 계획은 운영 전환 일정의 전제 조건으로, 우선 결정 요청드림.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호반그룹 JHA AI 에이전트 PoC 구성(안) 검토</dc:title>
  <dc:subject>PptxGenJS Presentation</dc:subject>
  <dc:creator>Samil PwC</dc:creator>
  <cp:lastModifiedBy>Samil PwC</cp:lastModifiedBy>
  <cp:revision>1</cp:revision>
  <dcterms:created xsi:type="dcterms:W3CDTF">2026-06-12T06:08:52Z</dcterms:created>
  <dcterms:modified xsi:type="dcterms:W3CDTF">2026-06-12T06:08:52Z</dcterms:modified>
</cp:coreProperties>
</file>