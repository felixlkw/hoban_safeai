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Objects="1">
      <p:cViewPr varScale="1">
        <p:scale>
          <a:sx n="109" d="100"/>
          <a:sy n="109" d="100"/>
        </p:scale>
        <p:origin x="70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욱 이" userId="f822002bf7ff485f" providerId="LiveId" clId="{69067E6D-0BC4-4421-BF89-AE9F56B62510}"/>
    <pc:docChg chg="mod modSld">
      <pc:chgData name="강욱 이" userId="f822002bf7ff485f" providerId="LiveId" clId="{69067E6D-0BC4-4421-BF89-AE9F56B62510}" dt="2026-06-11T16:25:01.103" v="47" actId="403"/>
      <pc:docMkLst>
        <pc:docMk/>
      </pc:docMkLst>
      <pc:sldChg chg="modSp mod">
        <pc:chgData name="강욱 이" userId="f822002bf7ff485f" providerId="LiveId" clId="{69067E6D-0BC4-4421-BF89-AE9F56B62510}" dt="2026-06-11T16:21:23.836" v="0" actId="122"/>
        <pc:sldMkLst>
          <pc:docMk/>
          <pc:sldMk cId="0" sldId="259"/>
        </pc:sldMkLst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7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8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13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1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15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1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18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23.836" v="0" actId="122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강욱 이" userId="f822002bf7ff485f" providerId="LiveId" clId="{69067E6D-0BC4-4421-BF89-AE9F56B62510}" dt="2026-06-11T16:22:09.559" v="9" actId="404"/>
        <pc:sldMkLst>
          <pc:docMk/>
          <pc:sldMk cId="0" sldId="261"/>
        </pc:sldMkLst>
        <pc:spChg chg="mod">
          <ac:chgData name="강욱 이" userId="f822002bf7ff485f" providerId="LiveId" clId="{69067E6D-0BC4-4421-BF89-AE9F56B62510}" dt="2026-06-11T16:21:43.263" v="1" actId="242"/>
          <ac:spMkLst>
            <pc:docMk/>
            <pc:sldMk cId="0" sldId="261"/>
            <ac:spMk id="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43.263" v="1" actId="242"/>
          <ac:spMkLst>
            <pc:docMk/>
            <pc:sldMk cId="0" sldId="261"/>
            <ac:spMk id="1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43.263" v="1" actId="242"/>
          <ac:spMkLst>
            <pc:docMk/>
            <pc:sldMk cId="0" sldId="261"/>
            <ac:spMk id="15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43.263" v="1" actId="242"/>
          <ac:spMkLst>
            <pc:docMk/>
            <pc:sldMk cId="0" sldId="261"/>
            <ac:spMk id="20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09.559" v="9" actId="404"/>
          <ac:spMkLst>
            <pc:docMk/>
            <pc:sldMk cId="0" sldId="261"/>
            <ac:spMk id="23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09.559" v="9" actId="404"/>
          <ac:spMkLst>
            <pc:docMk/>
            <pc:sldMk cId="0" sldId="261"/>
            <ac:spMk id="2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09.559" v="9" actId="404"/>
          <ac:spMkLst>
            <pc:docMk/>
            <pc:sldMk cId="0" sldId="261"/>
            <ac:spMk id="25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09.559" v="9" actId="404"/>
          <ac:spMkLst>
            <pc:docMk/>
            <pc:sldMk cId="0" sldId="261"/>
            <ac:spMk id="2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09.559" v="9" actId="404"/>
          <ac:spMkLst>
            <pc:docMk/>
            <pc:sldMk cId="0" sldId="261"/>
            <ac:spMk id="27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52.625" v="2" actId="122"/>
          <ac:spMkLst>
            <pc:docMk/>
            <pc:sldMk cId="0" sldId="261"/>
            <ac:spMk id="28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1:52.625" v="2" actId="122"/>
          <ac:spMkLst>
            <pc:docMk/>
            <pc:sldMk cId="0" sldId="261"/>
            <ac:spMk id="30" creationId="{00000000-0000-0000-0000-000000000000}"/>
          </ac:spMkLst>
        </pc:spChg>
      </pc:sldChg>
      <pc:sldChg chg="modSp mod">
        <pc:chgData name="강욱 이" userId="f822002bf7ff485f" providerId="LiveId" clId="{69067E6D-0BC4-4421-BF89-AE9F56B62510}" dt="2026-06-11T16:22:23.792" v="13" actId="403"/>
        <pc:sldMkLst>
          <pc:docMk/>
          <pc:sldMk cId="0" sldId="262"/>
        </pc:sldMkLst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22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2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2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32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23.792" v="13" actId="403"/>
          <ac:spMkLst>
            <pc:docMk/>
            <pc:sldMk cId="0" sldId="262"/>
            <ac:spMk id="33" creationId="{00000000-0000-0000-0000-000000000000}"/>
          </ac:spMkLst>
        </pc:spChg>
      </pc:sldChg>
      <pc:sldChg chg="modSp mod">
        <pc:chgData name="강욱 이" userId="f822002bf7ff485f" providerId="LiveId" clId="{69067E6D-0BC4-4421-BF89-AE9F56B62510}" dt="2026-06-11T16:23:04.160" v="23" actId="404"/>
        <pc:sldMkLst>
          <pc:docMk/>
          <pc:sldMk cId="0" sldId="264"/>
        </pc:sldMkLst>
        <pc:spChg chg="mod">
          <ac:chgData name="강욱 이" userId="f822002bf7ff485f" providerId="LiveId" clId="{69067E6D-0BC4-4421-BF89-AE9F56B62510}" dt="2026-06-11T16:23:04.160" v="23" actId="404"/>
          <ac:spMkLst>
            <pc:docMk/>
            <pc:sldMk cId="0" sldId="264"/>
            <ac:spMk id="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04.160" v="23" actId="404"/>
          <ac:spMkLst>
            <pc:docMk/>
            <pc:sldMk cId="0" sldId="264"/>
            <ac:spMk id="5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04.160" v="23" actId="404"/>
          <ac:spMkLst>
            <pc:docMk/>
            <pc:sldMk cId="0" sldId="264"/>
            <ac:spMk id="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04.160" v="23" actId="404"/>
          <ac:spMkLst>
            <pc:docMk/>
            <pc:sldMk cId="0" sldId="264"/>
            <ac:spMk id="7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9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13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1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2:56.132" v="18" actId="403"/>
          <ac:spMkLst>
            <pc:docMk/>
            <pc:sldMk cId="0" sldId="264"/>
            <ac:spMk id="17" creationId="{00000000-0000-0000-0000-000000000000}"/>
          </ac:spMkLst>
        </pc:spChg>
      </pc:sldChg>
      <pc:sldChg chg="modSp mod">
        <pc:chgData name="강욱 이" userId="f822002bf7ff485f" providerId="LiveId" clId="{69067E6D-0BC4-4421-BF89-AE9F56B62510}" dt="2026-06-11T16:23:12.172" v="24" actId="122"/>
        <pc:sldMkLst>
          <pc:docMk/>
          <pc:sldMk cId="0" sldId="265"/>
        </pc:sldMkLst>
        <pc:spChg chg="mod">
          <ac:chgData name="강욱 이" userId="f822002bf7ff485f" providerId="LiveId" clId="{69067E6D-0BC4-4421-BF89-AE9F56B62510}" dt="2026-06-11T16:23:12.172" v="24" actId="122"/>
          <ac:spMkLst>
            <pc:docMk/>
            <pc:sldMk cId="0" sldId="265"/>
            <ac:spMk id="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12.172" v="24" actId="122"/>
          <ac:spMkLst>
            <pc:docMk/>
            <pc:sldMk cId="0" sldId="265"/>
            <ac:spMk id="5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12.172" v="24" actId="122"/>
          <ac:spMkLst>
            <pc:docMk/>
            <pc:sldMk cId="0" sldId="265"/>
            <ac:spMk id="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12.172" v="24" actId="122"/>
          <ac:spMkLst>
            <pc:docMk/>
            <pc:sldMk cId="0" sldId="265"/>
            <ac:spMk id="7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12.172" v="24" actId="122"/>
          <ac:spMkLst>
            <pc:docMk/>
            <pc:sldMk cId="0" sldId="265"/>
            <ac:spMk id="8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12.172" v="24" actId="122"/>
          <ac:spMkLst>
            <pc:docMk/>
            <pc:sldMk cId="0" sldId="265"/>
            <ac:spMk id="9" creationId="{00000000-0000-0000-0000-000000000000}"/>
          </ac:spMkLst>
        </pc:spChg>
      </pc:sldChg>
      <pc:sldChg chg="modSp mod">
        <pc:chgData name="강욱 이" userId="f822002bf7ff485f" providerId="LiveId" clId="{69067E6D-0BC4-4421-BF89-AE9F56B62510}" dt="2026-06-11T16:23:46.796" v="32" actId="404"/>
        <pc:sldMkLst>
          <pc:docMk/>
          <pc:sldMk cId="0" sldId="267"/>
        </pc:sldMkLst>
        <pc:spChg chg="mod">
          <ac:chgData name="강욱 이" userId="f822002bf7ff485f" providerId="LiveId" clId="{69067E6D-0BC4-4421-BF89-AE9F56B62510}" dt="2026-06-11T16:23:46.796" v="32" actId="404"/>
          <ac:spMkLst>
            <pc:docMk/>
            <pc:sldMk cId="0" sldId="267"/>
            <ac:spMk id="23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46.796" v="32" actId="404"/>
          <ac:spMkLst>
            <pc:docMk/>
            <pc:sldMk cId="0" sldId="267"/>
            <ac:spMk id="2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46.796" v="32" actId="404"/>
          <ac:spMkLst>
            <pc:docMk/>
            <pc:sldMk cId="0" sldId="267"/>
            <ac:spMk id="25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46.796" v="32" actId="404"/>
          <ac:spMkLst>
            <pc:docMk/>
            <pc:sldMk cId="0" sldId="267"/>
            <ac:spMk id="2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46.796" v="32" actId="404"/>
          <ac:spMkLst>
            <pc:docMk/>
            <pc:sldMk cId="0" sldId="267"/>
            <ac:spMk id="27" creationId="{00000000-0000-0000-0000-000000000000}"/>
          </ac:spMkLst>
        </pc:spChg>
      </pc:sldChg>
      <pc:sldChg chg="modSp mod">
        <pc:chgData name="강욱 이" userId="f822002bf7ff485f" providerId="LiveId" clId="{69067E6D-0BC4-4421-BF89-AE9F56B62510}" dt="2026-06-11T16:24:13.713" v="35" actId="20577"/>
        <pc:sldMkLst>
          <pc:docMk/>
          <pc:sldMk cId="0" sldId="268"/>
        </pc:sldMkLst>
        <pc:spChg chg="mod">
          <ac:chgData name="강욱 이" userId="f822002bf7ff485f" providerId="LiveId" clId="{69067E6D-0BC4-4421-BF89-AE9F56B62510}" dt="2026-06-11T16:24:05.990" v="34" actId="122"/>
          <ac:spMkLst>
            <pc:docMk/>
            <pc:sldMk cId="0" sldId="268"/>
            <ac:spMk id="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4:13.713" v="35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58.222" v="33" actId="122"/>
          <ac:spMkLst>
            <pc:docMk/>
            <pc:sldMk cId="0" sldId="268"/>
            <ac:spMk id="9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58.222" v="33" actId="122"/>
          <ac:spMkLst>
            <pc:docMk/>
            <pc:sldMk cId="0" sldId="268"/>
            <ac:spMk id="11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3:58.222" v="33" actId="122"/>
          <ac:spMkLst>
            <pc:docMk/>
            <pc:sldMk cId="0" sldId="268"/>
            <ac:spMk id="13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4:05.990" v="34" actId="122"/>
          <ac:spMkLst>
            <pc:docMk/>
            <pc:sldMk cId="0" sldId="268"/>
            <ac:spMk id="14" creationId="{00000000-0000-0000-0000-000000000000}"/>
          </ac:spMkLst>
        </pc:spChg>
      </pc:sldChg>
      <pc:sldChg chg="modSp mod">
        <pc:chgData name="강욱 이" userId="f822002bf7ff485f" providerId="LiveId" clId="{69067E6D-0BC4-4421-BF89-AE9F56B62510}" dt="2026-06-11T16:25:01.103" v="47" actId="403"/>
        <pc:sldMkLst>
          <pc:docMk/>
          <pc:sldMk cId="0" sldId="270"/>
        </pc:sldMkLst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4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5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6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8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9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11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12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13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15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5:01.103" v="47" actId="403"/>
          <ac:spMkLst>
            <pc:docMk/>
            <pc:sldMk cId="0" sldId="270"/>
            <ac:spMk id="17" creationId="{00000000-0000-0000-0000-000000000000}"/>
          </ac:spMkLst>
        </pc:spChg>
        <pc:spChg chg="mod">
          <ac:chgData name="강욱 이" userId="f822002bf7ff485f" providerId="LiveId" clId="{69067E6D-0BC4-4421-BF89-AE9F56B62510}" dt="2026-06-11T16:24:52.832" v="44" actId="1036"/>
          <ac:spMkLst>
            <pc:docMk/>
            <pc:sldMk cId="0" sldId="270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796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377440"/>
            <a:ext cx="4754880" cy="23774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0040"/>
            <a:ext cx="777240" cy="4297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34440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삼일회계법인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36576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호반그룹 작업위험성평가(JHA)</a:t>
            </a:r>
            <a:endParaRPr lang="en-US" sz="30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PoC 구성(안)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384048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구성 검토 요청 — 오픈이노베이션팀·EHS 부서 협의용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77440" y="15544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880360" y="15544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— As-Is 문제와 To-Be 목표상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0" y="15544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975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9751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개요 — 범위·데모 시나리오·사용자 여정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97510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39572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 — 전사 위험요인 자산화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3957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816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8163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 아키텍처 — RAG·가드레일·연동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81635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2369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23697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현황 — 메커니즘 검증 vs 실 LLM 보류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32369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6576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36576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요청 사항 — 함께 결정할 안건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6576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위험성평가의 한계를 자연어·AI 추천 구조로 전환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 — As-Is의 3대 부담을 AI 추천 구조로 전환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위험성평가는 수기 입력·수동 검색·주관적 등급에 의존해 업무 부하·역량 편차·데이터 휘발이 누적됨. 자연어 입력 → AI 분류·기준 제안 → 객관적 등급 가이드 → ERP 자동 등록 구조로 전환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97764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— 현 위험성평가의 부담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709928"/>
            <a:ext cx="397764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pPr algn="ctr"/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01368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부하
</a:t>
            </a: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작업마다 위험요인·대책을 수기 입력. 과거 자료를 수동 검색해 재작성 — 평가 1건당 시간 과다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734056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역량 편차
</a:t>
            </a: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경험에 따라 위험요인 누락·등급 산정이 주관적. 평가 품질이 사람마다 다름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666744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휘발
</a:t>
            </a: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작성된 평가가 문서로만 남아 재사용·축적 안 됨. 조직 지식으로 자산화되지 못함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— AI 에이전트 지원 목표상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709928"/>
            <a:ext cx="416052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pPr algn="ctr"/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801368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AI 분류
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 → 대/중공종·세부항목 자동 분류 추천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734056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제안 → 객관적 등급
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위험요인·재해형태·KRAS 5×5 등급을 데이터 근거로 제시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666744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 → ERP 자동 등록
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 후 ERP 자동 등록. 평가가 조직 자산으로 축적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98848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AI 기술 — </a:t>
            </a: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LLM(자연어 이해) · RAG(사내 위험요인 검색·근거) · Semantic Search · Agentic Workflow. 단, 사용자가 항상 수정·거절 가능해야 함(제약사항).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입력부터 ERP 등록까지 5단계 파이프라인을 데모로 시연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범위 — 입력부터 등록까지 5단계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분류 → 위험요인·등급 → 검토·확정 → ERP 등록의 단일 흐름을 PoC 범위로 정의. 작업자는 입력·검토, 안전관리자는 확정·등록 책임을 가지는 역할 분기 구조.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입력. 동의어 정규화(낙상→추락)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대공종20·중공종254·세부1,182 트리 추천 + 대안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재해형태·KRAS 5×5 등급·중점등록·개선대책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검토. 경계셀·필수인용은 확정 게이트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확정분만 ERP 자동 등록(Outbox·Idempotency)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작업자(worker)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· 분류/평가 결과 검토 요청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등급·중점등록 자동 확정 권한 없음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(경계셀·필수인용 미해소 시 등록 차단)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352044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안전관리자(safety_manager)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확정 · 최종 검토 · ERP 등록 승인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확인 전 ERP 자동 등록 불가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AI 추천 수정·거절 가능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데모 시나리오 — 난이도·재해형태·가드레일을 다양화한 5건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추락·붕괴·복합재해·갭(밀폐공간)을 고루 포함해 분류·등급·인용·refuse 거동을 시연. Mock 어댑터로 외부 LLM 호출 없이 결정적 재현 가능.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18288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237744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분류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9144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포인트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타워크레인 해체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837944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가설공사 / 타워크레인(T형)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추락·낙하·협착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837944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상(경계셀)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→ 안전관리자 확정 게이트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258568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굴착 흙막이 가시설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258568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토공 및 가시설 / 굴착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붕괴·도괴·전도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258568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정상 등록 플로우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79192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거푸집·동바리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2679192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골조(형틀) / 보 슬래브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낙하·붕괴·추락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679192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 연동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099816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고소 강교 용접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3099816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토목 전문공사 / 강교설치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추락·감전·화재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099816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복합재해 다중 법적 인용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5204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밀폐공간(E/V PIT·맨홀)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3520440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부대토목 / 맨홀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추락·질식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520440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후보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영역 refuse 가드레일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123944"/>
            <a:ext cx="45720" cy="5029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5" name="Text 33"/>
          <p:cNvSpPr/>
          <p:nvPr/>
        </p:nvSpPr>
        <p:spPr>
          <a:xfrm>
            <a:off x="429768" y="4123944"/>
            <a:ext cx="8348472" cy="5029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①·⑤가 핵심 데모 — ①은 경계셀 자동확정 금지(3중 강제), ⑤는 데이터 갭 영역에서 근거 없는 대책을 생성하지 않는 refuse 가드레일을 시연함.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 4,469행을 정제·청킹·인덱스로 자산화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전사 위험요인 4,469행을 단일 자산으로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 20·중공종 254·세부항목 1,182·재해형태 21의 3계층 분류 체계. 결측 0건·범위위반 0건·인코딩 손상 0건으로 정제 품질 확보됨(openpyxl 실측).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데이터 행</a:t>
            </a:r>
            <a:endParaRPr lang="en-US" sz="1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 0 / 중복 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0317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3계층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20·254·1,182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대/중공종·세부항목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058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1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21종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표준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7799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위험등급 분포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하2,444·중1,507·상518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상=중점등록 518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 사망사고 다발 재해형태 (행수 / 등급 상 행수)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
</a:t>
            </a:r>
            <a:r>
              <a:rPr lang="en-US" sz="110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792행 / 상168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낙하·비래
</a:t>
            </a:r>
            <a:r>
              <a:rPr lang="en-US" sz="110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874행 / 상82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
</a:t>
            </a:r>
            <a:r>
              <a:rPr lang="en-US" sz="110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685행 / 상77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협착
</a:t>
            </a:r>
            <a:r>
              <a:rPr lang="en-US" sz="110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525행 / 상66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
</a:t>
            </a:r>
            <a:r>
              <a:rPr lang="en-US" sz="110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197행 / 상31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523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
</a:t>
            </a:r>
            <a:r>
              <a:rPr lang="en-US" sz="110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343행 / 상32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5720" cy="7315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7" name="Text 15"/>
          <p:cNvSpPr/>
          <p:nvPr/>
        </p:nvSpPr>
        <p:spPr>
          <a:xfrm>
            <a:off x="429768" y="3703320"/>
            <a:ext cx="8348472" cy="7315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상 518행의 재해형태 TOP4(추락·전도·낙하·협착)가 전체 상의 73.8%. 데모·평가는 이 4종에 집중함. 단 토목·가설 편중(52.1%)으로 밀폐공간·화학물질 등은 데이터가 얕아 갭 영역으로 분리 처리(refuse 대상).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KRAS 5×5 등급 체계와 자산화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전수 역산으로 등급 임계곱 확정(하≤9 / 중10~15 / 상≥16). 곱16(강도4×빈도4)만 상·중 혼합인 경계셀로, 자동 확정하지 않고 안전관리자 판단에 위임.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임계곱 (실데이터 역산 · 99.22% 재현)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pPr algn="ctr"/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3977640" cy="603504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 (Low) 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≤ 9
</a:t>
            </a: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2,444행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414016"/>
            <a:ext cx="3977640" cy="603504"/>
          </a:xfrm>
          <a:prstGeom prst="rect">
            <a:avLst/>
          </a:prstGeom>
          <a:solidFill>
            <a:srgbClr val="FFF8E1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(Medium) 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≤ 강도 × 빈도 ≤ 15
</a:t>
            </a: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1,507행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3977640" cy="603504"/>
          </a:xfrm>
          <a:prstGeom prst="rect">
            <a:avLst/>
          </a:prstGeom>
          <a:solidFill>
            <a:srgbClr val="FCDDC2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(High) 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≥ 16
</a:t>
            </a: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518행 (전부 중점등록 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767328"/>
            <a:ext cx="3977640" cy="603504"/>
          </a:xfrm>
          <a:prstGeom prst="rect">
            <a:avLst/>
          </a:prstGeom>
          <a:solidFill>
            <a:srgbClr val="FFEB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강도4 × 빈도4 = 16 (상249/중35)
</a:t>
            </a: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자동확정 금지·인간 판단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자산화 파이프라인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01768" y="173736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정제·정규화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 불릿 제거·다중공백 단일화·동의어 정규화·분류 ID 부여(MJ/SB/DT)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01768" y="237744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단위 청킹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4,469행 → 행 단위 청크 + 메타데이터 inline(분류·등급·인용 추적)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01768" y="301752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인덱스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kiwipiepy 토크나이저 BM25 인덱스(PoC 베이스라인). dense 임베딩은 차기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45720" cy="566928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81728" y="3675888"/>
            <a:ext cx="4096512" cy="566928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— PII 0건(작업자 정보 미포함) · 외부 LLM 화이트리스트 필터 강제 · 위반 필드 탐지 시 외부 전송 중단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아키텍처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파이프라인·신뢰성 가드레일·Human-in-the-loop·ERP 연동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RAG 파이프라인 7단계 (검색→생성→검산)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의도추출·메타필터로 검색공간을 4,469행에서 수십 건으로 축소 후 Claude가 추천. 등급·중점등록·인용은 LLM을 신뢰하지 않고 백엔드가 결정적으로 재계산·검증함.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생성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입력 → taxonomy 매칭, 동의어 정규화, 비작업 입력 게이트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대/중공종·재해형태 필터로 4,469 → 수십 건 축소(비용·정확도)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단독(PoC). top_k 20→5. dense 임베딩은 차기 활성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생성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Sonnet 기본·모호 시 Opus. JSON 스키마 출력·prompt caching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
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검증·등급 재계산·경계셀 강제. 코드가 권위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657600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의존성 격리 — </a:t>
            </a: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임베딩·LLM·리랭커를 어댑터 인터페이스로 분리. 교체(예: BM25→dense, Sonnet→Opus)는 어댑터 단위로 격리되어 파이프라인 계약 불변.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169664"/>
            <a:ext cx="8412480" cy="420624"/>
          </a:xfrm>
          <a:prstGeom prst="rect">
            <a:avLst/>
          </a:prstGeom>
          <a:solidFill>
            <a:srgbClr val="FDF6EE"/>
          </a:solidFill>
          <a:ln>
            <a:solidFill>
              <a:srgbClr val="FDF6EE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위험 확장(차기) — </a:t>
            </a: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분류·평가에 현장 위치·실시간 기상·지형 재해 레이어 결합. 외부 공공 API는 provider 추상화로 목업↔실API 교체.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신뢰성 가드레일과 Human-in-the-loop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신뢰성을 코드로 강제. "출처 없이는 답하지 않는다" 원칙하에 인용 강제·등급 재계산·경계셀 인간판단·갭영역 거절을 적용하고, 안전관리자 확정 전 ERP 등록을 차단함.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가드레일 (백엔드 결정적 검증)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강제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위험요인·대책에 source_row 인용 필수. 미검색 인용(환각) 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재생성 → 거절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코드 재계산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강도×빈도를 코드가 재계산. LLM 등급과 불일치 시 코드 우선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인간판단 강제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곱16은 자동 확정 금지. 기본 상(보수적)+안전관리자 확인 플래그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393192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갭영역 거절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밀폐공간·화학물질·석면은 근거 부족 시 refuse(조문만 표시, 대책 차단)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Human-in-the-loop — ERP 등록 게이트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92040" y="1755648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평가(ASSESSED)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60820" y="21214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대기(PENDING_REVIEW)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60820" y="2651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816352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확정(REVIEWED)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60820" y="31821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346704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확정(FINALIZED)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60820" y="3712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877056"/>
            <a:ext cx="3611880" cy="365760"/>
          </a:xfrm>
          <a:prstGeom prst="rect">
            <a:avLst/>
          </a:prstGeom>
          <a:solidFill>
            <a:srgbClr val="EB6B16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등록(REGISTERING)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4407408"/>
            <a:ext cx="45720" cy="45720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681728" y="4407408"/>
            <a:ext cx="4096512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미해소 레코드는 finalize 409 차단 + 어댑터 ErpFatal 이중 게이트. 사람 확인 없이 ERP 자동 등록 불가.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메커니즘은 검증 완료, 실 LLM 품질은 정직하게 검증 보류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메커니즘 검증 완료 / 실 LLM 품질 보류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상태머신·경계셀 강제·인용 불변식·refuse·ERP 이중 게이트 등 코드가 보장하는 안전 메커니즘은 테스트로 검증됨. 단 분류·인용·등급의 품질 절대값은 실 Claude 미실행으로 의도적 보류.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4160520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완료 — 메커니즘 (Mock 무관 유효)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16052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pPr algn="ctr"/>
            <a:endParaRPr lang="ko-KR" altLang="en-US" sz="280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상태머신 전이·위반 차단 (E2E)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경계셀(곱16) 3중 강제 — 자동확정 금지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816352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불변식 citations ⊆ retrieved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346704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refuse 가드레일 갭영역 2/2 발동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877056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</a:t>
            </a: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Mock 7 시나리오·Outbox·이중 게이트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406908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보류 — 실 LLM 필요 (정직 표기)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664208"/>
            <a:ext cx="40690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pPr algn="ctr"/>
            <a:endParaRPr lang="ko-KR" altLang="en-US" sz="2800"/>
          </a:p>
        </p:txBody>
      </p:sp>
      <p:sp>
        <p:nvSpPr>
          <p:cNvPr id="13" name="Text 11"/>
          <p:cNvSpPr/>
          <p:nvPr/>
        </p:nvSpPr>
        <p:spPr>
          <a:xfrm>
            <a:off x="4709160" y="1755648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정확도 절대값 (실 LLM 검증 필요)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286000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precision/recall (실 dense·rerank 필요)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816352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alignment 절대값 (실 LLM 검증 필요)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3346704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faithfulness·대책 실행성 (LLM-judge 필요)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877056"/>
            <a:ext cx="4069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 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법령 인용 recall (실 LLM 검증 필요)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18550"/>
            <a:ext cx="8412480" cy="45720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 고지 — </a:t>
            </a: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보류는 결함이 아니라 PoC 설계상 의도된 경계임. 운영 전환은 실 LLM baseline 측정 + 전문가 검증(≥200건)을 게이트로 함.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테스트 커버리지와 데모 화면 구성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55·프론트엔드 72·E2E 12건 테스트로 메커니즘 검증. 챗 인터페이스에 상시 동반(companion) 패널을 결합해 분류·위험요인 매트릭스·인용 원문·등록 결과를 단계별로 시연.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테스트</a:t>
            </a:r>
            <a:endParaRPr lang="en-US" sz="9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gap_guardrail·outbox·api_flow 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1564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단위</a:t>
            </a:r>
            <a:endParaRPr lang="en-US" sz="9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매트릭스·배지·companion 패널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6552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E2E 시나리오</a:t>
            </a:r>
            <a:endParaRPr lang="en-US" sz="9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worker·manager·동적위험 플로우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화면 — 챗 + 상시 동반 패널(companion panel)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분류 도우미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대공종20→중공종254 트리 드릴다운 + AI 추천 하이라이트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9174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 평가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5×5 매트릭스 시각화 + 경계셀 "안전관리자 확인" 배지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근거 source_row 원문 표시(위험요인·대책·강도·빈도)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4370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완료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 결과(ID·상태) + 다음 작업 유도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45720" cy="36576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9768" y="4206240"/>
            <a:ext cx="8348472" cy="36576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경보(작업중지)는 어느 단계에서도 패널 상단 1줄로 상시 노출 — 현장 햇빛·소음·장갑 환경을 고려한 색상+텍스트 병기(WCAG).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결정할 안건 — ERP I/F·DB 접근·검증 계획·데이터 범위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 — 고객과 함께 결정할 5대 안건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메커니즘은 데모 가능하나, 운영 전환을 위해 ERP I/F 확정·DB 접근 전략 승인·전문가 검증 계획·데이터 추가 범위·실 LLM baseline 시점을 함께 결정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371600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패키지/버전·인터페이스 종류(REST/SOAP/OData)·JHA 등록 엔드포인트 존재 여부 확인 필요. 미확정 시 어댑터 구현체·등록 흐름 설계 진행 불가.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2066544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066544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접근 전략 — ETL 배치(옵션 C)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→ 벡터 인덱스 일 1회 야간 배치 동기화 안 승인 요청. ERP 신규 개발·로그 접근 없이 읽기 권한만으로 착수 → 일정 리스크 최소.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761488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 기간·대조 검증(≥200건)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안전관리자가 실작업 입력에 대해 AI 추천 vs 수기 평가 대조(권장 ≥200건). 오답 패턴 카테고리화 → gold set·few-shot 보강. AI 신뢰성 검증·튜닝 기간 필요(제약사항).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456432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456432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추가 범위 — 갭 영역 보강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밀폐공간(KOSHA Guide P-93)·화학물질/MSDS(산안법 §110~115)는 데이터 얕음 → 현재 refuse 대상. 2차 데이터 확보 범위·우선순위 협의 필요.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4151376"/>
            <a:ext cx="548640" cy="603504"/>
          </a:xfrm>
          <a:prstGeom prst="roundRect">
            <a:avLst>
              <a:gd name="adj" fmla="val 6667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4151376"/>
            <a:ext cx="7818120" cy="60350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측정 시점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검증 완료. 분류·인용·등급·faithfulness 절대값은 실 Claude 실행 후 임계(분류≥0.85·citation P≥0.90 등) 충족 확인 필요. 측정 착수 시점 결정 요청.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마무리 — 운영 전환 로드맵 및 협의 요청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PoC(메커니즘 데모) → 운영(실작업 등록) 전환은 dense 검색·실 LLM baseline·refuse 보강·실 ERP 연동·전문가 검증을 순차 게이트로 진행함. 각 단계 진입 전 본 검토 안건의 결정을 전제로 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7680960" cy="2743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2179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2179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메커니즘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(Mock)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4203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945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접근 승인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6227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46227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refuse 보강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8251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8251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350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ERP 연동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dense 검색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0275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30275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≥200건 후 전환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— </a:t>
            </a: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PoC 구성(안)에 대해 함께 검토 부탁드립니다.
</a:t>
            </a: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① ERP I/F 확정(P0) ② 안전 DB ETL 배치 승인 ③ 전문가 검증 기간·대조 검증(≥200건) 계획은 운영 전환 일정의 전제 조건으로, 우선 결정 요청드림.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2633</Words>
  <Application>Microsoft Office PowerPoint</Application>
  <PresentationFormat>화면 슬라이드 쇼(16:9)</PresentationFormat>
  <Paragraphs>351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Noto Serif CJK KR</vt:lpstr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호반그룹 JHA AI 에이전트 PoC 구성(안) 검토</dc:title>
  <dc:subject>PptxGenJS Presentation</dc:subject>
  <dc:creator>Samil PwC</dc:creator>
  <cp:lastModifiedBy>강욱 이</cp:lastModifiedBy>
  <cp:revision>1</cp:revision>
  <dcterms:created xsi:type="dcterms:W3CDTF">2026-06-11T16:19:16Z</dcterms:created>
  <dcterms:modified xsi:type="dcterms:W3CDTF">2026-06-11T16:25:05Z</dcterms:modified>
</cp:coreProperties>
</file>